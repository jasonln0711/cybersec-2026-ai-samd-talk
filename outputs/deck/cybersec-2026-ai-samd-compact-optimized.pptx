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1704320" cy="6583680"/>
  <p:notesSz cx="6583680" cy="117043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各位好，我是林家聖。今天不是要背法規，也不是展示工具清單。我想用一個問題串起來：一個 AI model 要變成可信任的醫療產品，中間需要留下哪些證據和決策？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這是大會必要的 disclaimer，我在這裡停一下，讓大家看見。接下來我們直接進入今天真正的問題。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醫師看到的是結果，病人承受的是後果，公司要負責的是整個使用情境。模型準不準只是其中一件事。只要它進入臨床流程，團隊就要能說清楚：誰用、在哪裡用、出問題怎麼修、修完怎麼證明。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 年的醫療 AI 不只是模型檔。它會接 runtime、資料、帳號、更新鏈、客服支援，最後接到臨床流程。台灣國家資安脈絡也在提醒我們，AI 安全、關鍵基礎設施、關鍵產業和供應鏈韌性正在合流；醫療 AI SaMD 是這個合流裡很具體的一種產品場景。這裡不是多講國家戰略，而是把醫療 AI 放回臨床連續性和供應商責任。只要更新路徑、登入、viewer、資料庫或支援服務中斷，就可能讓臨床流程延遲或改走人工 fallback。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同一個模型，放在不同產品邊界裡，資安責任完全不同。每加一層，產品能力變強，攻擊面、測試深度、證據需求和營運責任也一起變大。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FDA 524B 可以壓成幾個生命週期義務：上市後要 monitor、identify、address vulnerability；要有 coordinated vulnerability disclosure；要能提供 updates and patches；也要提供 SBOM。FDA 2025 guidance 往下要求的是安全架構視圖、邊界、角色、介面、threat model、testing evidence，以及 traceability。換成工程語言，就是一條證據鏈：架構怎麼畫、威脅怎麼判斷、控制怎麼設計、測試打到哪裡、finding 怎麼決定、修補和重測怎麼留下紀錄。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我建議不要把 NIST 當成要背的控制項。它比較像共同語言。AI RMF 幫我們問 Govern、Map、Measure、Manage：誰決策、情境是什麼、怎麼量測、怎麼管理。CSF 2.0 幫資安營運補上 Govern、Identify、Protect、Detect、Respond、Recover。真正要講清楚的是三層：模型行為、軟體堆疊、臨床流程。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第一層的風險重點是 artifact：模型從哪裡來，資料怎麼追，依賴怎麼列，更新邊界在哪裡。第二層加了 viewer，就變成使用情境。攻擊者不一定碰模型；他可以碰檔案解析、上傳流程、暫存、輸出呈現，甚至影響使用者怎麼解讀結果。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第三層開始，資安就是公司風險：帳號、權限、API、資料庫、audit log、backup 都會進來。第四層進到醫院環境，問題就不只是產品保護，而是 clinical continuity。金融業談交易不中斷，通訊業談連線不中斷，能源談供應不中斷；醫療這裡談的是照護流程不能被資安事件輕易打斷。你的更新伺服器、遠端支援、PACS/HIS 連接、醫院網路邊界和 downtime fallback，都會影響醫院怎麼信任你這個供應商。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Cyber Safety is Patient Safety. 這句話不是口號。當資安問題讓結果不可用、資料不可信、服務無法更新、finding 沒有人決定，最後影響的就是臨床流程和病人照護的連續性。Pause.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不是工具名稱競賽。每一種測試都要回答一個決策問題。SBOM/SCA 回答組成和已知漏洞；white-box 回答 release 前可修什麼；fuzz 和 abuse case 回答異常輸入會不會打壞流程；black-box 回答外部看得到什麼；penetration test 回答問題能不能被串成真實風險；retest 回答修補是否成立。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Patch SLA 在這裡不是 FDA 原文裡的固定名詞，而是一個 operating model。金融資安韌性的語言很值得借鏡：治理、問責、演練、備援、供應鏈、可恢復。醫療 AI 團隊不必一開始就變成大型金融機構，但至少要建立同一個方向的最小治理迴圈。真正成熟的團隊不是沒有漏洞，而是每個 finding 進來後，知道 owner 是誰、severity 怎麼判斷、決策是 fix now、compensate、defer 還是 not applicable、期限在哪裡、修完誰重測、證據放哪裡。沒有 decision，就沒有治理；沒有證據，就沒有信任。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/ 60 / 90 不是法規要求，也不是 Patch SLA 一定要長這樣。它是小團隊的 adoption scaffold：30 天讓產品和風險看得見，60 天讓風險能進流程，90 天讓外部驗證、CVD、Patch SLA 和 retest evidence 接起來。重點不是三個月變完美，而是三個月後，公司開始自動留下可信證據。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真正成熟的團隊，不是文件最多的團隊，而是每一個風險都知道怎麼證明、怎麼修、怎麼追的團隊。謝謝大家。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371600"/>
            <a:ext cx="7132320" cy="120700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軟體醫材的資安實戰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94944" y="2743200"/>
            <a:ext cx="630936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Boundary -&gt; Evidence -&gt; Decision -&gt; Repair proof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94944" y="5120640"/>
            <a:ext cx="5120640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林家聖 | CYBERSEC 2026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046720" y="1463040"/>
            <a:ext cx="1645920" cy="804672"/>
          </a:xfrm>
          <a:prstGeom prst="roundRect">
            <a:avLst>
              <a:gd name="adj" fmla="val 5682"/>
            </a:avLst>
          </a:prstGeom>
          <a:solidFill>
            <a:srgbClr val="0F1B2C"/>
          </a:solidFill>
          <a:ln w="13970">
            <a:solidFill>
              <a:srgbClr val="2947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6448" y="1554480"/>
            <a:ext cx="1426464" cy="62179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7F6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Boundary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217152" y="2542032"/>
            <a:ext cx="1645920" cy="804672"/>
          </a:xfrm>
          <a:prstGeom prst="roundRect">
            <a:avLst>
              <a:gd name="adj" fmla="val 5682"/>
            </a:avLst>
          </a:prstGeom>
          <a:solidFill>
            <a:srgbClr val="0F1B2C"/>
          </a:solidFill>
          <a:ln w="13970">
            <a:solidFill>
              <a:srgbClr val="2947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2633472"/>
            <a:ext cx="1426464" cy="62179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7F6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Evidence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26680" y="3950208"/>
            <a:ext cx="1645920" cy="804672"/>
          </a:xfrm>
          <a:prstGeom prst="roundRect">
            <a:avLst>
              <a:gd name="adj" fmla="val 5682"/>
            </a:avLst>
          </a:prstGeom>
          <a:solidFill>
            <a:srgbClr val="0F1B2C"/>
          </a:solidFill>
          <a:ln w="13970">
            <a:solidFill>
              <a:srgbClr val="294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4041648"/>
            <a:ext cx="1426464" cy="62179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7F6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Repair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E7F6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Proof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961120" y="2267712"/>
            <a:ext cx="18288" cy="566928"/>
          </a:xfrm>
          <a:prstGeom prst="rect">
            <a:avLst/>
          </a:prstGeom>
          <a:solidFill>
            <a:srgbClr val="294766"/>
          </a:solidFill>
          <a:ln w="12700">
            <a:solidFill>
              <a:srgbClr val="294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3346704"/>
            <a:ext cx="18288" cy="603504"/>
          </a:xfrm>
          <a:prstGeom prst="rect">
            <a:avLst/>
          </a:prstGeom>
          <a:solidFill>
            <a:srgbClr val="294766"/>
          </a:solidFill>
          <a:ln w="12700">
            <a:solidFill>
              <a:srgbClr val="29476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nln3799/every_on_git_ubuntu/planning-everything-track/data/knowledge/personal/sources/2026-04-09-cybersec-2026-speaker-pre-event-notice/assets/cybersec-2026-disclaimer-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00200"/>
            <a:ext cx="7498080" cy="15544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你賣的不是模型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914400" y="3675888"/>
            <a:ext cx="1261872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685032"/>
            <a:ext cx="1261872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Workflow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414016" y="3675888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14016" y="3685032"/>
            <a:ext cx="1170432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Repair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822192" y="3675888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22192" y="3685032"/>
            <a:ext cx="1353312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Evidence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001000" y="1536192"/>
            <a:ext cx="2157984" cy="2157984"/>
          </a:xfrm>
          <a:prstGeom prst="roundRect">
            <a:avLst>
              <a:gd name="adj" fmla="val 2119"/>
            </a:avLst>
          </a:prstGeom>
          <a:solidFill>
            <a:srgbClr val="0E1A2B"/>
          </a:solidFill>
          <a:ln w="13970">
            <a:solidFill>
              <a:srgbClr val="284D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0" y="2304288"/>
            <a:ext cx="1335024" cy="18288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70848" y="1874520"/>
            <a:ext cx="18288" cy="1335024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50976"/>
            <a:ext cx="786384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is becoming care infrastructure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005840" y="1874520"/>
            <a:ext cx="3566160" cy="530352"/>
          </a:xfrm>
          <a:prstGeom prst="roundRect">
            <a:avLst>
              <a:gd name="adj" fmla="val 8621"/>
            </a:avLst>
          </a:prstGeom>
          <a:solidFill>
            <a:srgbClr val="101A2B"/>
          </a:solidFill>
          <a:ln w="13970">
            <a:solidFill>
              <a:srgbClr val="263C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947672"/>
            <a:ext cx="3035808" cy="38404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Model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61872" y="2551176"/>
            <a:ext cx="3566160" cy="530352"/>
          </a:xfrm>
          <a:prstGeom prst="roundRect">
            <a:avLst>
              <a:gd name="adj" fmla="val 8621"/>
            </a:avLst>
          </a:prstGeom>
          <a:solidFill>
            <a:srgbClr val="101A2B"/>
          </a:solidFill>
          <a:ln w="13970">
            <a:solidFill>
              <a:srgbClr val="263C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17904" y="2624328"/>
            <a:ext cx="3035808" cy="38404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Runtime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517904" y="3227832"/>
            <a:ext cx="3566160" cy="530352"/>
          </a:xfrm>
          <a:prstGeom prst="roundRect">
            <a:avLst>
              <a:gd name="adj" fmla="val 8621"/>
            </a:avLst>
          </a:prstGeom>
          <a:solidFill>
            <a:srgbClr val="101A2B"/>
          </a:solidFill>
          <a:ln w="13970">
            <a:solidFill>
              <a:srgbClr val="263C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73936" y="3300984"/>
            <a:ext cx="3035808" cy="38404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 / Identity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773936" y="3904488"/>
            <a:ext cx="3566160" cy="530352"/>
          </a:xfrm>
          <a:prstGeom prst="roundRect">
            <a:avLst>
              <a:gd name="adj" fmla="val 8621"/>
            </a:avLst>
          </a:prstGeom>
          <a:solidFill>
            <a:srgbClr val="102A3A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29968" y="3977640"/>
            <a:ext cx="3035808" cy="384048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Update / Support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126480" y="2377440"/>
            <a:ext cx="310896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17152" y="2231136"/>
            <a:ext cx="36576" cy="329184"/>
          </a:xfrm>
          <a:prstGeom prst="rect">
            <a:avLst/>
          </a:prstGeom>
          <a:solidFill>
            <a:srgbClr val="FF4D5E"/>
          </a:solidFill>
          <a:ln w="12700">
            <a:solidFill>
              <a:srgbClr val="FF4D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0" y="2377440"/>
            <a:ext cx="1005840" cy="27432"/>
          </a:xfrm>
          <a:prstGeom prst="rect">
            <a:avLst/>
          </a:prstGeom>
          <a:solidFill>
            <a:srgbClr val="344255"/>
          </a:solidFill>
          <a:ln w="12700">
            <a:solidFill>
              <a:srgbClr val="3442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2724912"/>
            <a:ext cx="3657600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Clinical continuity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44768" y="3291840"/>
            <a:ext cx="4206240" cy="53035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Service interruption -&gt; care workflow delay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60120"/>
            <a:ext cx="7132320" cy="62179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boundary decides risk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005840" y="4160520"/>
            <a:ext cx="1737360" cy="859536"/>
          </a:xfrm>
          <a:prstGeom prst="roundRect">
            <a:avLst>
              <a:gd name="adj" fmla="val 5319"/>
            </a:avLst>
          </a:prstGeom>
          <a:solidFill>
            <a:srgbClr val="101A2B"/>
          </a:solidFill>
          <a:ln w="13970">
            <a:solidFill>
              <a:srgbClr val="2A3C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4325112"/>
            <a:ext cx="1463040" cy="53035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Model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926080" y="3584448"/>
            <a:ext cx="2011680" cy="859536"/>
          </a:xfrm>
          <a:prstGeom prst="roundRect">
            <a:avLst>
              <a:gd name="adj" fmla="val 5319"/>
            </a:avLst>
          </a:prstGeom>
          <a:solidFill>
            <a:srgbClr val="101A2B"/>
          </a:solidFill>
          <a:ln w="13970">
            <a:solidFill>
              <a:srgbClr val="2A3C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63240" y="3749040"/>
            <a:ext cx="1737360" cy="53035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Viewer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120640" y="2907792"/>
            <a:ext cx="2468880" cy="859536"/>
          </a:xfrm>
          <a:prstGeom prst="roundRect">
            <a:avLst>
              <a:gd name="adj" fmla="val 5319"/>
            </a:avLst>
          </a:prstGeom>
          <a:solidFill>
            <a:srgbClr val="101A2B"/>
          </a:solidFill>
          <a:ln w="13970">
            <a:solidFill>
              <a:srgbClr val="2A3C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57800" y="3072384"/>
            <a:ext cx="2194560" cy="53035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Platform / Database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772400" y="2157984"/>
            <a:ext cx="2834640" cy="859536"/>
          </a:xfrm>
          <a:prstGeom prst="roundRect">
            <a:avLst>
              <a:gd name="adj" fmla="val 5319"/>
            </a:avLst>
          </a:prstGeom>
          <a:solidFill>
            <a:srgbClr val="172338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09560" y="2322576"/>
            <a:ext cx="2560320" cy="53035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Connected Medical System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645920" y="5349240"/>
            <a:ext cx="777240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5468112"/>
            <a:ext cx="3017520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2000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Evidence / testing / operations grow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50976"/>
            <a:ext cx="694944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obligation to evidence chain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49808" y="2670048"/>
            <a:ext cx="1261872" cy="749808"/>
          </a:xfrm>
          <a:prstGeom prst="roundRect">
            <a:avLst>
              <a:gd name="adj" fmla="val 6098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16352"/>
            <a:ext cx="1115568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Architecture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2011680" y="3035808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95728" y="2670048"/>
            <a:ext cx="1261872" cy="749808"/>
          </a:xfrm>
          <a:prstGeom prst="roundRect">
            <a:avLst>
              <a:gd name="adj" fmla="val 6098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2816352"/>
            <a:ext cx="1115568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Threat model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57600" y="3035808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41648" y="2670048"/>
            <a:ext cx="1261872" cy="749808"/>
          </a:xfrm>
          <a:prstGeom prst="roundRect">
            <a:avLst>
              <a:gd name="adj" fmla="val 6098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816352"/>
            <a:ext cx="1115568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Control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5303520" y="3035808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87568" y="2670048"/>
            <a:ext cx="1261872" cy="749808"/>
          </a:xfrm>
          <a:prstGeom prst="roundRect">
            <a:avLst>
              <a:gd name="adj" fmla="val 6098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816352"/>
            <a:ext cx="1115568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6949440" y="3035808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33488" y="2670048"/>
            <a:ext cx="1261872" cy="749808"/>
          </a:xfrm>
          <a:prstGeom prst="roundRect">
            <a:avLst>
              <a:gd name="adj" fmla="val 6098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2816352"/>
            <a:ext cx="1115568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Finding decision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8595360" y="3035808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9408" y="2670048"/>
            <a:ext cx="1609344" cy="749808"/>
          </a:xfrm>
          <a:prstGeom prst="roundRect">
            <a:avLst>
              <a:gd name="adj" fmla="val 6098"/>
            </a:avLst>
          </a:prstGeom>
          <a:solidFill>
            <a:srgbClr val="102C3A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0" y="2816352"/>
            <a:ext cx="146304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Patch / retest record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664208" y="4160520"/>
            <a:ext cx="118872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64208" y="4169664"/>
            <a:ext cx="118872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Monitor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3630168" y="4160520"/>
            <a:ext cx="1188720" cy="384048"/>
          </a:xfrm>
          <a:prstGeom prst="roundRect">
            <a:avLst>
              <a:gd name="adj" fmla="val 11905"/>
            </a:avLst>
          </a:prstGeom>
          <a:solidFill>
            <a:srgbClr val="FF4D5E">
              <a:alpha val="9000"/>
            </a:srgbClr>
          </a:solidFill>
          <a:ln w="13970">
            <a:solidFill>
              <a:srgbClr val="FF4D5E">
                <a:alpha val="53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0168" y="4169664"/>
            <a:ext cx="118872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4D5E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CVD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596128" y="4160520"/>
            <a:ext cx="118872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96128" y="4169664"/>
            <a:ext cx="118872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Patch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62088" y="4160520"/>
            <a:ext cx="118872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62088" y="4169664"/>
            <a:ext cx="118872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SBOM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50976"/>
            <a:ext cx="786384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Risk Layers, One Governance Language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60120" y="2148840"/>
            <a:ext cx="2743200" cy="2578608"/>
          </a:xfrm>
          <a:prstGeom prst="roundRect">
            <a:avLst>
              <a:gd name="adj" fmla="val 1773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9576" y="2377440"/>
            <a:ext cx="2304288" cy="42062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Model behavior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52728" y="3017520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Intended use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179576" y="3172968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728" y="3493008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 / V&amp;V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79576" y="3648456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2728" y="3968496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Limits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79576" y="4123944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148840"/>
            <a:ext cx="2743200" cy="2578608"/>
          </a:xfrm>
          <a:prstGeom prst="roundRect">
            <a:avLst>
              <a:gd name="adj" fmla="val 1773"/>
            </a:avLst>
          </a:prstGeom>
          <a:solidFill>
            <a:srgbClr val="111F34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17136" y="2377440"/>
            <a:ext cx="2304288" cy="42062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Software stack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90288" y="3017520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Provenance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4517136" y="3172968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3493008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Isolation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17136" y="3648456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0288" y="3968496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Updates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4517136" y="4123944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35240" y="2148840"/>
            <a:ext cx="2743200" cy="2578608"/>
          </a:xfrm>
          <a:prstGeom prst="roundRect">
            <a:avLst>
              <a:gd name="adj" fmla="val 1773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54696" y="2377440"/>
            <a:ext cx="2304288" cy="42062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Clinical workflow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927848" y="3017520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User roles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7854696" y="3172968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27848" y="3493008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Continuity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7854696" y="3648456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3968496"/>
            <a:ext cx="2157984" cy="3108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Residual risk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7854696" y="4123944"/>
            <a:ext cx="36576" cy="36576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32688"/>
            <a:ext cx="822960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1-2: Artifact to User-Facing System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0976" y="1993392"/>
            <a:ext cx="4443984" cy="2944368"/>
          </a:xfrm>
          <a:prstGeom prst="roundRect">
            <a:avLst>
              <a:gd name="adj" fmla="val 1553"/>
            </a:avLst>
          </a:prstGeom>
          <a:solidFill>
            <a:srgbClr val="101A2B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267712"/>
            <a:ext cx="3840480" cy="43891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D7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98448" y="2944368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Artifact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8448" y="3328416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 lineage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8448" y="3712464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SBOM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4096512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Update boundary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309360" y="1993392"/>
            <a:ext cx="4443984" cy="2944368"/>
          </a:xfrm>
          <a:prstGeom prst="roundRect">
            <a:avLst>
              <a:gd name="adj" fmla="val 1553"/>
            </a:avLst>
          </a:prstGeom>
          <a:solidFill>
            <a:srgbClr val="101A2B"/>
          </a:solidFill>
          <a:ln w="13970">
            <a:solidFill>
              <a:srgbClr val="FF4D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2267712"/>
            <a:ext cx="3840480" cy="43891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4D5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Viewer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656832" y="2944368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Parser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656832" y="3328416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Upload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56832" y="3712464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Cache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656832" y="4096512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Output interpretation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32688"/>
            <a:ext cx="822960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3-4: Platform to Clinical Continuity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0976" y="1993392"/>
            <a:ext cx="4443984" cy="2944368"/>
          </a:xfrm>
          <a:prstGeom prst="roundRect">
            <a:avLst>
              <a:gd name="adj" fmla="val 1553"/>
            </a:avLst>
          </a:prstGeom>
          <a:solidFill>
            <a:srgbClr val="101A2B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267712"/>
            <a:ext cx="3840480" cy="43891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D7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/ Database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98448" y="2944368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8448" y="3328416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8448" y="3712464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Database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4096512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Audit log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8448" y="4480560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Backup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309360" y="1993392"/>
            <a:ext cx="4443984" cy="2944368"/>
          </a:xfrm>
          <a:prstGeom prst="roundRect">
            <a:avLst>
              <a:gd name="adj" fmla="val 1553"/>
            </a:avLst>
          </a:prstGeom>
          <a:solidFill>
            <a:srgbClr val="101A2B"/>
          </a:solidFill>
          <a:ln w="13970">
            <a:solidFill>
              <a:srgbClr val="FF4D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2267712"/>
            <a:ext cx="3840480" cy="43891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4D5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Connected Medical System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656832" y="2944368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PACS / HIS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56832" y="3328416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Hospital network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656832" y="3712464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Update server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56832" y="4096512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Remote service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656832" y="4480560"/>
            <a:ext cx="3566160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Downtime fallback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00200"/>
            <a:ext cx="7498080" cy="15544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Cyber Safety Is Patient Safety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841248" y="3749040"/>
            <a:ext cx="146304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758184"/>
            <a:ext cx="146304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Availability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532888" y="3749040"/>
            <a:ext cx="1463040" cy="384048"/>
          </a:xfrm>
          <a:prstGeom prst="roundRect">
            <a:avLst>
              <a:gd name="adj" fmla="val 11905"/>
            </a:avLst>
          </a:prstGeom>
          <a:solidFill>
            <a:srgbClr val="FF4D5E">
              <a:alpha val="9000"/>
            </a:srgbClr>
          </a:solidFill>
          <a:ln w="13970">
            <a:solidFill>
              <a:srgbClr val="FF4D5E">
                <a:alpha val="53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32888" y="3758184"/>
            <a:ext cx="146304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4D5E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Integrity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24528" y="3749040"/>
            <a:ext cx="146304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24528" y="3758184"/>
            <a:ext cx="146304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Repairability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41080" y="1737360"/>
            <a:ext cx="36576" cy="2743200"/>
          </a:xfrm>
          <a:prstGeom prst="rect">
            <a:avLst/>
          </a:prstGeom>
          <a:solidFill>
            <a:srgbClr val="FF4D5E"/>
          </a:solidFill>
          <a:ln w="12700">
            <a:solidFill>
              <a:srgbClr val="FF4D5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32688"/>
            <a:ext cx="896112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Testing Portfolio: What Question Does Each Test Answer?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77824" y="2121408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286000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SBOM / SCA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8992" y="2615184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components?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15384" y="2121408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2286000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White-box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416552" y="2615184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fix before release?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552944" y="2121408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54112" y="2286000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Fuzz / abuse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54112" y="2615184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what breaks?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7824" y="3511296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675888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Black-box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78992" y="4005072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exposed from outside?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215384" y="3511296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16552" y="3675888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 test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416552" y="4005072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can issues chain?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52944" y="3511296"/>
            <a:ext cx="2834640" cy="1024128"/>
          </a:xfrm>
          <a:prstGeom prst="roundRect">
            <a:avLst>
              <a:gd name="adj" fmla="val 4464"/>
            </a:avLst>
          </a:prstGeom>
          <a:solidFill>
            <a:srgbClr val="102C3A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54112" y="3675888"/>
            <a:ext cx="2432304" cy="27432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Retest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754112" y="4005072"/>
            <a:ext cx="2432304" cy="329184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did repair work?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32688"/>
            <a:ext cx="365760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Patch SLA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94944" y="1572768"/>
            <a:ext cx="5486400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finding needs a decision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0" y="1563624"/>
            <a:ext cx="109728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Owner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589520" y="1554480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0" y="1563624"/>
            <a:ext cx="109728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Severity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869680" y="1554480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563624"/>
            <a:ext cx="109728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Due date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86384" y="2834640"/>
            <a:ext cx="1207008" cy="658368"/>
          </a:xfrm>
          <a:prstGeom prst="roundRect">
            <a:avLst>
              <a:gd name="adj" fmla="val 6944"/>
            </a:avLst>
          </a:prstGeom>
          <a:solidFill>
            <a:srgbClr val="101A2B"/>
          </a:solidFill>
          <a:ln w="15240">
            <a:solidFill>
              <a:srgbClr val="2B3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962656"/>
            <a:ext cx="1060704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Intake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993392" y="3163824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2834640"/>
            <a:ext cx="1207008" cy="658368"/>
          </a:xfrm>
          <a:prstGeom prst="roundRect">
            <a:avLst>
              <a:gd name="adj" fmla="val 6944"/>
            </a:avLst>
          </a:prstGeom>
          <a:solidFill>
            <a:srgbClr val="101A2B"/>
          </a:solidFill>
          <a:ln w="15240">
            <a:solidFill>
              <a:srgbClr val="2B3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2032" y="2962656"/>
            <a:ext cx="1060704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Triage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75888" y="3163824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68496" y="2606040"/>
            <a:ext cx="1755648" cy="1024128"/>
          </a:xfrm>
          <a:prstGeom prst="roundRect">
            <a:avLst>
              <a:gd name="adj" fmla="val 4464"/>
            </a:avLst>
          </a:prstGeom>
          <a:solidFill>
            <a:srgbClr val="122F3F"/>
          </a:solidFill>
          <a:ln w="30480">
            <a:solidFill>
              <a:srgbClr val="38D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59936" y="2734056"/>
            <a:ext cx="1609344" cy="76809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Decision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5724144" y="3163824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33872" y="2834640"/>
            <a:ext cx="1207008" cy="658368"/>
          </a:xfrm>
          <a:prstGeom prst="roundRect">
            <a:avLst>
              <a:gd name="adj" fmla="val 6944"/>
            </a:avLst>
          </a:prstGeom>
          <a:solidFill>
            <a:srgbClr val="101A2B"/>
          </a:solidFill>
          <a:ln w="15240">
            <a:solidFill>
              <a:srgbClr val="2B3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07024" y="2962656"/>
            <a:ext cx="1060704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Patch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040880" y="3163824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16368" y="2834640"/>
            <a:ext cx="1207008" cy="658368"/>
          </a:xfrm>
          <a:prstGeom prst="roundRect">
            <a:avLst>
              <a:gd name="adj" fmla="val 6944"/>
            </a:avLst>
          </a:prstGeom>
          <a:solidFill>
            <a:srgbClr val="101A2B"/>
          </a:solidFill>
          <a:ln w="15240">
            <a:solidFill>
              <a:srgbClr val="2B3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0" y="2962656"/>
            <a:ext cx="1060704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Retest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8723376" y="3163824"/>
            <a:ext cx="384048" cy="22860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98864" y="2834640"/>
            <a:ext cx="1207008" cy="658368"/>
          </a:xfrm>
          <a:prstGeom prst="roundRect">
            <a:avLst>
              <a:gd name="adj" fmla="val 6944"/>
            </a:avLst>
          </a:prstGeom>
          <a:solidFill>
            <a:srgbClr val="101A2B"/>
          </a:solidFill>
          <a:ln w="15240">
            <a:solidFill>
              <a:srgbClr val="2B3B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72016" y="2962656"/>
            <a:ext cx="1060704" cy="40233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Archive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2249424" y="461772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49424" y="4626864"/>
            <a:ext cx="137160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Fix now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4078224" y="461772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78224" y="4626864"/>
            <a:ext cx="137160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Compensate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907024" y="461772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FF4D5E">
              <a:alpha val="9000"/>
            </a:srgbClr>
          </a:solidFill>
          <a:ln w="13970">
            <a:solidFill>
              <a:srgbClr val="FF4D5E">
                <a:alpha val="53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07024" y="4626864"/>
            <a:ext cx="137160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4D5E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Defer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735824" y="461772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38D7FF">
              <a:alpha val="9000"/>
            </a:srgbClr>
          </a:solidFill>
          <a:ln w="13970">
            <a:solidFill>
              <a:srgbClr val="38D7FF">
                <a:alpha val="53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35824" y="4626864"/>
            <a:ext cx="1371600" cy="36576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D7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Not applicable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932688"/>
            <a:ext cx="6949440" cy="6400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Team 30 / 60 / 90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042416" y="2231136"/>
            <a:ext cx="2743200" cy="2423160"/>
          </a:xfrm>
          <a:prstGeom prst="roundRect">
            <a:avLst>
              <a:gd name="adj" fmla="val 1887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16736" y="2450592"/>
            <a:ext cx="2194560" cy="58521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426464" y="3218688"/>
            <a:ext cx="1975104" cy="10058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Inventory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SBOM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 flow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79976" y="2231136"/>
            <a:ext cx="2743200" cy="2423160"/>
          </a:xfrm>
          <a:prstGeom prst="roundRect">
            <a:avLst>
              <a:gd name="adj" fmla="val 1887"/>
            </a:avLst>
          </a:prstGeom>
          <a:solidFill>
            <a:srgbClr val="101A2B"/>
          </a:solidFill>
          <a:ln w="13970">
            <a:solidFill>
              <a:srgbClr val="2B3B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4296" y="2450592"/>
            <a:ext cx="2194560" cy="58521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764024" y="3218688"/>
            <a:ext cx="1975104" cy="10058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Threat model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CI gates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finding workflow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717536" y="2231136"/>
            <a:ext cx="2743200" cy="2423160"/>
          </a:xfrm>
          <a:prstGeom prst="roundRect">
            <a:avLst>
              <a:gd name="adj" fmla="val 1887"/>
            </a:avLst>
          </a:prstGeom>
          <a:solidFill>
            <a:srgbClr val="111F34"/>
          </a:solidFill>
          <a:ln w="13970">
            <a:solidFill>
              <a:srgbClr val="38D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91856" y="2450592"/>
            <a:ext cx="2194560" cy="585216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9BF2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101584" y="3218688"/>
            <a:ext cx="1975104" cy="10058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 test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Patch SLA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AA7B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retest evidence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33872"/>
            <a:ext cx="10387584" cy="13716"/>
          </a:xfrm>
          <a:prstGeom prst="rect">
            <a:avLst/>
          </a:prstGeom>
          <a:solidFill>
            <a:srgbClr val="1E2B3D"/>
          </a:solidFill>
          <a:ln w="12700">
            <a:solidFill>
              <a:srgbClr val="1E2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640080" cy="27432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00200"/>
            <a:ext cx="7498080" cy="155448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先把安全做進產品</a:t>
            </a:r>
            <a:endParaRPr lang="en-US" sz="5000" dirty="0"/>
          </a:p>
          <a:p>
            <a:pPr algn="l"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法規文件才會自然長出來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59536" y="3749040"/>
            <a:ext cx="5120640" cy="438912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9BF2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Build trust before the audit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046720" y="2286000"/>
            <a:ext cx="2377440" cy="18288"/>
          </a:xfrm>
          <a:prstGeom prst="rect">
            <a:avLst/>
          </a:prstGeom>
          <a:solidFill>
            <a:srgbClr val="38D7FF"/>
          </a:solidFill>
          <a:ln w="12700">
            <a:solidFill>
              <a:srgbClr val="38D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0" y="2615184"/>
            <a:ext cx="1737360" cy="18288"/>
          </a:xfrm>
          <a:prstGeom prst="rect">
            <a:avLst/>
          </a:prstGeom>
          <a:solidFill>
            <a:srgbClr val="344255"/>
          </a:solidFill>
          <a:ln w="12700">
            <a:solidFill>
              <a:srgbClr val="3442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0" y="2944368"/>
            <a:ext cx="2057400" cy="18288"/>
          </a:xfrm>
          <a:prstGeom prst="rect">
            <a:avLst/>
          </a:prstGeom>
          <a:solidFill>
            <a:srgbClr val="344255"/>
          </a:solidFill>
          <a:ln w="12700">
            <a:solidFill>
              <a:srgbClr val="34425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CYBERSEC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SaMD Cybersecurity: From Model Demo to Product Trust</dc:title>
  <dc:subject>AI SaMD cybersecurity talk</dc:subject>
  <dc:creator>Lin Jiasheng</dc:creator>
  <cp:lastModifiedBy>Lin Jiasheng</cp:lastModifiedBy>
  <cp:revision>1</cp:revision>
  <dcterms:created xsi:type="dcterms:W3CDTF">2026-04-21T03:56:13Z</dcterms:created>
  <dcterms:modified xsi:type="dcterms:W3CDTF">2026-04-21T03:56:13Z</dcterms:modified>
</cp:coreProperties>
</file>