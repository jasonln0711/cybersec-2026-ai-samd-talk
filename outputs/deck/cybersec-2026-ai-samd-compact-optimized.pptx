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f56523b623479f" /><Relationship Type="http://schemas.openxmlformats.org/officeDocument/2006/relationships/extended-properties" Target="/docProps/app.xml" Id="R76946c9f726c4750" /><Relationship Type="http://schemas.openxmlformats.org/officeDocument/2006/relationships/officeDocument" Target="/ppt/presentation.xml" Id="R4a8ecb09e74a48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75cebac15a4b2d"/>
  </p:sldMasterIdLst>
  <p:notesMasterIdLst>
    <p:notesMasterId xmlns:r="http://schemas.openxmlformats.org/officeDocument/2006/relationships" r:id="R3efafb902fe6441e"/>
  </p:notesMasterIdLst>
  <p:sldIdLst>
    <p:sldId xmlns:r="http://schemas.openxmlformats.org/officeDocument/2006/relationships" id="256" r:id="Re920aaa6a4c84271"/>
    <p:sldId xmlns:r="http://schemas.openxmlformats.org/officeDocument/2006/relationships" id="257" r:id="R9bf9cad827c94bd7"/>
    <p:sldId xmlns:r="http://schemas.openxmlformats.org/officeDocument/2006/relationships" id="258" r:id="R846b4dd8ce9c47d5"/>
    <p:sldId xmlns:r="http://schemas.openxmlformats.org/officeDocument/2006/relationships" id="259" r:id="R4f29fec6d5364795"/>
    <p:sldId xmlns:r="http://schemas.openxmlformats.org/officeDocument/2006/relationships" id="260" r:id="Rebf294e796264b77"/>
    <p:sldId xmlns:r="http://schemas.openxmlformats.org/officeDocument/2006/relationships" id="261" r:id="R26663d7683844948"/>
    <p:sldId xmlns:r="http://schemas.openxmlformats.org/officeDocument/2006/relationships" id="262" r:id="R55c36639d55b4573"/>
    <p:sldId xmlns:r="http://schemas.openxmlformats.org/officeDocument/2006/relationships" id="263" r:id="Re630a7dd3bd540e8"/>
    <p:sldId xmlns:r="http://schemas.openxmlformats.org/officeDocument/2006/relationships" id="264" r:id="Ra22bc60f5feb40a4"/>
    <p:sldId xmlns:r="http://schemas.openxmlformats.org/officeDocument/2006/relationships" id="265" r:id="R7b48007df55c4587"/>
    <p:sldId xmlns:r="http://schemas.openxmlformats.org/officeDocument/2006/relationships" id="266" r:id="R5310fb9383554230"/>
    <p:sldId xmlns:r="http://schemas.openxmlformats.org/officeDocument/2006/relationships" id="267" r:id="R12edb6d9839a4c84"/>
    <p:sldId xmlns:r="http://schemas.openxmlformats.org/officeDocument/2006/relationships" id="268" r:id="R760df04e49974bd1"/>
    <p:sldId xmlns:r="http://schemas.openxmlformats.org/officeDocument/2006/relationships" id="269" r:id="R77f4743bbb9e4e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5cebac15a4b2d" /><Relationship Type="http://schemas.openxmlformats.org/officeDocument/2006/relationships/theme" Target="/ppt/theme/theme1.xml" Id="R163daacb8fb54bd6" /><Relationship Type="http://schemas.openxmlformats.org/officeDocument/2006/relationships/notesMaster" Target="/ppt/notesMasters/notesMaster1.xml" Id="R3efafb902fe6441e" /><Relationship Type="http://schemas.openxmlformats.org/officeDocument/2006/relationships/presProps" Target="/ppt/presProps.xml" Id="R1c76aa42d5fc4d7a" /><Relationship Type="http://schemas.openxmlformats.org/officeDocument/2006/relationships/viewProps" Target="/ppt/viewProps.xml" Id="R3fec5c23f5854a10" /><Relationship Type="http://schemas.openxmlformats.org/officeDocument/2006/relationships/tableStyles" Target="/ppt/tableStyles.xml" Id="Rb99a37d8eaca4425" /><Relationship Type="http://schemas.openxmlformats.org/officeDocument/2006/relationships/slide" Target="/ppt/slides/slide1.xml" Id="Re920aaa6a4c84271" /><Relationship Type="http://schemas.openxmlformats.org/officeDocument/2006/relationships/slide" Target="/ppt/slides/slide2.xml" Id="R9bf9cad827c94bd7" /><Relationship Type="http://schemas.openxmlformats.org/officeDocument/2006/relationships/slide" Target="/ppt/slides/slide3.xml" Id="R846b4dd8ce9c47d5" /><Relationship Type="http://schemas.openxmlformats.org/officeDocument/2006/relationships/slide" Target="/ppt/slides/slide4.xml" Id="R4f29fec6d5364795" /><Relationship Type="http://schemas.openxmlformats.org/officeDocument/2006/relationships/slide" Target="/ppt/slides/slide5.xml" Id="Rebf294e796264b77" /><Relationship Type="http://schemas.openxmlformats.org/officeDocument/2006/relationships/slide" Target="/ppt/slides/slide6.xml" Id="R26663d7683844948" /><Relationship Type="http://schemas.openxmlformats.org/officeDocument/2006/relationships/slide" Target="/ppt/slides/slide7.xml" Id="R55c36639d55b4573" /><Relationship Type="http://schemas.openxmlformats.org/officeDocument/2006/relationships/slide" Target="/ppt/slides/slide8.xml" Id="Re630a7dd3bd540e8" /><Relationship Type="http://schemas.openxmlformats.org/officeDocument/2006/relationships/slide" Target="/ppt/slides/slide9.xml" Id="Ra22bc60f5feb40a4" /><Relationship Type="http://schemas.openxmlformats.org/officeDocument/2006/relationships/slide" Target="/ppt/slides/slide10.xml" Id="R7b48007df55c4587" /><Relationship Type="http://schemas.openxmlformats.org/officeDocument/2006/relationships/slide" Target="/ppt/slides/slide11.xml" Id="R5310fb9383554230" /><Relationship Type="http://schemas.openxmlformats.org/officeDocument/2006/relationships/slide" Target="/ppt/slides/slide12.xml" Id="R12edb6d9839a4c84" /><Relationship Type="http://schemas.openxmlformats.org/officeDocument/2006/relationships/slide" Target="/ppt/slides/slide13.xml" Id="R760df04e49974bd1" /><Relationship Type="http://schemas.openxmlformats.org/officeDocument/2006/relationships/slide" Target="/ppt/slides/slide14.xml" Id="R77f4743bbb9e4e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32ba908f9ae4f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YBERSEC Dark">
  <a:themeElements>
    <a:clrScheme name="CYBERSEC Dark">
      <a:accent1>
        <a:srgbClr val="38D7FF"/>
      </a:accent1>
      <a:accent2>
        <a:srgbClr val="FF4D5E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YBERSEC 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867ee0510d454b" /><Relationship Type="http://schemas.openxmlformats.org/officeDocument/2006/relationships/notesMaster" Target="/ppt/notesMasters/notesMaster1.xml" Id="Rdf353dc0cd7a45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35298b2f8e4407" /><Relationship Type="http://schemas.openxmlformats.org/officeDocument/2006/relationships/notesMaster" Target="/ppt/notesMasters/notesMaster1.xml" Id="R3f72dda705c645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c59109e6d44c4f" /><Relationship Type="http://schemas.openxmlformats.org/officeDocument/2006/relationships/notesMaster" Target="/ppt/notesMasters/notesMaster1.xml" Id="R6c67f602ae7f45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1319bf2bd4900" /><Relationship Type="http://schemas.openxmlformats.org/officeDocument/2006/relationships/notesMaster" Target="/ppt/notesMasters/notesMaster1.xml" Id="R28df8c673ccf43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ba5c7add524942" /><Relationship Type="http://schemas.openxmlformats.org/officeDocument/2006/relationships/notesMaster" Target="/ppt/notesMasters/notesMaster1.xml" Id="Re2a619bf3ff047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5e4073996d4b22" /><Relationship Type="http://schemas.openxmlformats.org/officeDocument/2006/relationships/notesMaster" Target="/ppt/notesMasters/notesMaster1.xml" Id="Rbfb9bc87869644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b8b021b8774a19" /><Relationship Type="http://schemas.openxmlformats.org/officeDocument/2006/relationships/notesMaster" Target="/ppt/notesMasters/notesMaster1.xml" Id="Rebc21daa07e54c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ba358dbd244f08" /><Relationship Type="http://schemas.openxmlformats.org/officeDocument/2006/relationships/notesMaster" Target="/ppt/notesMasters/notesMaster1.xml" Id="R3f403f6edcb04d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710632572a488c" /><Relationship Type="http://schemas.openxmlformats.org/officeDocument/2006/relationships/notesMaster" Target="/ppt/notesMasters/notesMaster1.xml" Id="R235d415df7cb4f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7ec62b9dc842fa" /><Relationship Type="http://schemas.openxmlformats.org/officeDocument/2006/relationships/notesMaster" Target="/ppt/notesMasters/notesMaster1.xml" Id="R7d98a3642f4247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425c0369404b75" /><Relationship Type="http://schemas.openxmlformats.org/officeDocument/2006/relationships/notesMaster" Target="/ppt/notesMasters/notesMaster1.xml" Id="Rf5c85c27195144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0d26afbbae4a83" /><Relationship Type="http://schemas.openxmlformats.org/officeDocument/2006/relationships/notesMaster" Target="/ppt/notesMasters/notesMaster1.xml" Id="Radc9c59718764d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30f4706f5a4213" /><Relationship Type="http://schemas.openxmlformats.org/officeDocument/2006/relationships/notesMaster" Target="/ppt/notesMasters/notesMaster1.xml" Id="R55e4fb89012a44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96af1be4e24ee4" /><Relationship Type="http://schemas.openxmlformats.org/officeDocument/2006/relationships/notesMaster" Target="/ppt/notesMasters/notesMaster1.xml" Id="R609189236ddd4e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各位好，我是林家聖。今天的題目是 AI 軟體醫材的資安實戰。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這是大會必要的 disclaimer，我在這裡停一下，讓大家看見。接下來我們直接進入今天真正的問題。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你賣的是一個在醫療情境中可被信任、可被修補、可被稽核的系統。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醫療資安也已經不只是 IT 後台問題；當 AI 進入醫療，cyber incident 可能直接干擾 clinical care。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每加一層，產品能力變強，攻擊面也變大，證據需求也變大。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法規要的是證據，不是口號。這條線接不起來，文件再多也只是資料夾。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在這裡是共同語言，不是控制清單；AI RMF 講 Govern, Map, Measure, Manage，CSF 可補上資安營運語言。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到 viewer 的差別，是產品從一個 artifact 變成一個使用情境。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這時候 cyber risk 不只是產品保護，而是 clinical continuity risk。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Cyber Safety is Patient Safety. Pause.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Testing 的價值，是讓風險變成可以修、可以驗證、可以追蹤的 finding。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沒有 decision，就沒有治理；沒有證據，就沒有信任。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重點不是三個月變完美，而是三個月後，公司開始自動留下可信證據。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真正成熟的團隊，不是文件最多的團隊，而是每一個風險都知道怎麼證明、怎麼修、怎麼追的團隊。謝謝大家。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6ed84fdde4c6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0F3886F5-8021-4CF5-B002-FDE7D7698B1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7D01FE8-D492-431D-B16E-865DECA6D8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DA1227-8865-4FEC-A1BA-3A8C3D82D82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9231BD-8529-41B0-A988-B78F28814EF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dfc1bc83efa4760" /><Relationship Type="http://schemas.openxmlformats.org/officeDocument/2006/relationships/slideLayout" Target="/ppt/slideLayouts/slideLayout2.xml" Id="R446fc35b39dd4b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EFF0AC-6D0F-4E7D-A4BC-D08EBEA1611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6fc35b39dd4b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8512037716480f" /><Relationship Type="http://schemas.openxmlformats.org/officeDocument/2006/relationships/notesSlide" Target="/ppt/notesSlides/notesSlide1.xml" Id="R83bf56b4753347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0a9f6c5c474092" /><Relationship Type="http://schemas.openxmlformats.org/officeDocument/2006/relationships/image" Target="/ppt/media/image.jpeg" Id="Rb51e3367e72b4c32" /><Relationship Type="http://schemas.openxmlformats.org/officeDocument/2006/relationships/notesSlide" Target="/ppt/notesSlides/notesSlide2.xml" Id="R4131ecbdca0d43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242815052949f0" /><Relationship Type="http://schemas.openxmlformats.org/officeDocument/2006/relationships/notesSlide" Target="/ppt/notesSlides/notesSlide3.xml" Id="R58dc7c71a3544d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dac0e74b60449b" /><Relationship Type="http://schemas.openxmlformats.org/officeDocument/2006/relationships/notesSlide" Target="/ppt/notesSlides/notesSlide4.xml" Id="R4d49413be07c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909b190c854909" /><Relationship Type="http://schemas.openxmlformats.org/officeDocument/2006/relationships/notesSlide" Target="/ppt/notesSlides/notesSlide5.xml" Id="R7d90af4fda454d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5c5c5b52434c44" /><Relationship Type="http://schemas.openxmlformats.org/officeDocument/2006/relationships/notesSlide" Target="/ppt/notesSlides/notesSlide6.xml" Id="Re18ce5ab316d41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a123802abf4edf" /><Relationship Type="http://schemas.openxmlformats.org/officeDocument/2006/relationships/notesSlide" Target="/ppt/notesSlides/notesSlide7.xml" Id="R3950f15f046844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262d1362c04a22" /><Relationship Type="http://schemas.openxmlformats.org/officeDocument/2006/relationships/notesSlide" Target="/ppt/notesSlides/notesSlide8.xml" Id="R3ca8486f1f7a48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57df761a27472b" /><Relationship Type="http://schemas.openxmlformats.org/officeDocument/2006/relationships/notesSlide" Target="/ppt/notesSlides/notesSlide9.xml" Id="R512e6ebf0e3647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c5f2f8aaf4ab2" /><Relationship Type="http://schemas.openxmlformats.org/officeDocument/2006/relationships/notesSlide" Target="/ppt/notesSlides/notesSlide10.xml" Id="Rcd420b00d07e46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daf16e455a4d77" /><Relationship Type="http://schemas.openxmlformats.org/officeDocument/2006/relationships/notesSlide" Target="/ppt/notesSlides/notesSlide11.xml" Id="R5621c1a9896147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034ffb07bf4d53" /><Relationship Type="http://schemas.openxmlformats.org/officeDocument/2006/relationships/notesSlide" Target="/ppt/notesSlides/notesSlide12.xml" Id="R857bbc2473e646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30fd9b9a7146ac" /><Relationship Type="http://schemas.openxmlformats.org/officeDocument/2006/relationships/notesSlide" Target="/ppt/notesSlides/notesSlide13.xml" Id="R8fce080bd2b742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fdabb59db84b4f" /><Relationship Type="http://schemas.openxmlformats.org/officeDocument/2006/relationships/notesSlide" Target="/ppt/notesSlides/notesSlide14.xml" Id="R79c9e76d0a4647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F874B-B79D-42C7-B67C-2AC643E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4416D-5C9B-4157-8CD9-091CB9DE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47839-318E-4ECD-A46F-FAA16819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7FA"/>
                </a:solidFill>
              </a:defRPr>
            </a:pPr>
            <a:r>
              <a:rPr sz="4050" b="1">
                <a:solidFill>
                  <a:srgbClr val="F5F7FA"/>
                </a:solidFill>
              </a:rPr>
              <a:t>AI 軟體醫材的資安實戰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7EA10-A943-4795-890B-F2719793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09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9BF2FF"/>
                </a:solidFill>
              </a:defRPr>
            </a:pPr>
            <a:r>
              <a:rPr sz="1950" b="0">
                <a:solidFill>
                  <a:srgbClr val="9BF2FF"/>
                </a:solidFill>
              </a:rPr>
              <a:t>FDA 524B -&gt; Threat Modeling -&gt; Patch SLA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280A2-B55D-4779-B6C8-64ECBEE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7B8"/>
                </a:solidFill>
              </a:defRPr>
            </a:pPr>
            <a:r>
              <a:rPr sz="1425" b="0">
                <a:solidFill>
                  <a:srgbClr val="9AA7B8"/>
                </a:solidFill>
              </a:rPr>
              <a:t>林家聖 | CYBERSEC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1E7CE-9FD8-427B-AA91-8F69347A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1619250" cy="819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F1B2C"/>
          </a:solidFill>
          <a:ln xmlns:a="http://schemas.openxmlformats.org/drawingml/2006/main" w="11430">
            <a:solidFill>
              <a:srgbClr val="29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54553-0052-401A-AD53-119AA2E2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F6FF"/>
                </a:solidFill>
              </a:defRPr>
            </a:pPr>
            <a:r>
              <a:rPr sz="1575" b="1">
                <a:solidFill>
                  <a:srgbClr val="E7F6FF"/>
                </a:solidFill>
              </a:rPr>
              <a:t>FDA 524B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B93F1-28C0-40BF-A51E-E6CA8087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1619250" cy="819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F1B2C"/>
          </a:solidFill>
          <a:ln xmlns:a="http://schemas.openxmlformats.org/drawingml/2006/main" w="11430">
            <a:solidFill>
              <a:srgbClr val="2947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96DCE-E229-4BE5-A610-9DAD621E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95625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F6FF"/>
                </a:solidFill>
              </a:defRPr>
            </a:pPr>
            <a:r>
              <a:rPr sz="1575" b="1">
                <a:solidFill>
                  <a:srgbClr val="E7F6FF"/>
                </a:solidFill>
              </a:rPr>
              <a:t>Threat</a:t>
            </a:r>
          </a:p>
          <a:p xmlns:a="http://schemas.openxmlformats.org/drawingml/2006/main">
            <a:pPr algn="ctr">
              <a:defRPr sz="1575" b="1">
                <a:solidFill>
                  <a:srgbClr val="E7F6FF"/>
                </a:solidFill>
              </a:defRPr>
            </a:pPr>
            <a:r>
              <a:rPr sz="1575" b="1">
                <a:solidFill>
                  <a:srgbClr val="E7F6FF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979EC-5BC5-4F03-A0DE-C8F8F8A6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1619250" cy="8191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F1B2C"/>
          </a:solidFill>
          <a:ln xmlns:a="http://schemas.openxmlformats.org/drawingml/2006/main" w="11430">
            <a:solidFill>
              <a:srgbClr val="2947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64725-7C36-40F4-BA5E-0DEEEFCC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33875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F6FF"/>
                </a:solidFill>
              </a:defRPr>
            </a:pPr>
            <a:r>
              <a:rPr sz="1575" b="1">
                <a:solidFill>
                  <a:srgbClr val="E7F6FF"/>
                </a:solidFill>
              </a:rPr>
              <a:t>Patch</a:t>
            </a:r>
          </a:p>
          <a:p xmlns:a="http://schemas.openxmlformats.org/drawingml/2006/main">
            <a:pPr algn="ctr">
              <a:defRPr sz="1575" b="1">
                <a:solidFill>
                  <a:srgbClr val="E7F6FF"/>
                </a:solidFill>
              </a:defRPr>
            </a:pPr>
            <a:r>
              <a:rPr sz="1575" b="1">
                <a:solidFill>
                  <a:srgbClr val="E7F6FF"/>
                </a:solidFill>
              </a:rPr>
              <a:t>SLA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F87F9-9861-45A4-B181-9FF2C087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28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66"/>
          </a:solidFill>
          <a:ln xmlns:a="http://schemas.openxmlformats.org/drawingml/2006/main" w="0">
            <a:solidFill>
              <a:srgbClr val="2947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DAC53-7F5D-4C51-8B4F-6FC6E62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290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66"/>
          </a:solidFill>
          <a:ln xmlns:a="http://schemas.openxmlformats.org/drawingml/2006/main" w="0">
            <a:solidFill>
              <a:srgbClr val="29476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205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e3367e72b4c3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51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B42ED-7A88-4F54-9436-D51BEBBA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17B28-5D38-464F-BD52-9F4709BE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B7FB8-C19E-4E3D-BB7D-F76D1875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781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</a:defRPr>
            </a:pPr>
            <a:r>
              <a:rPr sz="4800" b="1">
                <a:solidFill>
                  <a:srgbClr val="F5F7FA"/>
                </a:solidFill>
              </a:rPr>
              <a:t>你賣的不是模型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810DD-45B5-4179-A06B-11EF9A21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2192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38D7FF">
              <a:alpha val="9412"/>
            </a:srgbClr>
          </a:solidFill>
          <a:ln xmlns:a="http://schemas.openxmlformats.org/drawingml/2006/main" w="11430">
            <a:solidFill>
              <a:srgbClr val="38D7FF">
                <a:alpha val="53333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3A7B4-D44F-417C-B84B-B01A1A65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7FF"/>
                </a:solidFill>
              </a:defRPr>
            </a:pPr>
            <a:r>
              <a:rPr sz="1275" b="1">
                <a:solidFill>
                  <a:srgbClr val="38D7FF"/>
                </a:solidFill>
              </a:rPr>
              <a:t>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409AE-A719-49D2-8C6B-079768B8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29050"/>
            <a:ext cx="12192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38D7FF">
              <a:alpha val="9412"/>
            </a:srgbClr>
          </a:solidFill>
          <a:ln xmlns:a="http://schemas.openxmlformats.org/drawingml/2006/main" w="11430">
            <a:solidFill>
              <a:srgbClr val="38D7FF">
                <a:alpha val="5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E6020-1BB5-4A9D-931D-77843278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38575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7FF"/>
                </a:solidFill>
              </a:defRPr>
            </a:pPr>
            <a:r>
              <a:rPr sz="1275" b="1">
                <a:solidFill>
                  <a:srgbClr val="38D7FF"/>
                </a:solidFill>
              </a:rPr>
              <a:t>Patch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37C92-AD23-461A-A4B0-1648F5BD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29050"/>
            <a:ext cx="152400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38D7FF">
              <a:alpha val="9412"/>
            </a:srgbClr>
          </a:solidFill>
          <a:ln xmlns:a="http://schemas.openxmlformats.org/drawingml/2006/main" w="11430">
            <a:solidFill>
              <a:srgbClr val="38D7FF">
                <a:alpha val="5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6D211-3C99-40CD-AAB6-911C8EF8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38575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7FF"/>
                </a:solidFill>
              </a:defRPr>
            </a:pPr>
            <a:r>
              <a:rPr sz="1275" b="1">
                <a:solidFill>
                  <a:srgbClr val="38D7FF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5BE47-2688-4741-8927-B0212804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00200"/>
            <a:ext cx="224790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E1A2B"/>
          </a:solidFill>
          <a:ln xmlns:a="http://schemas.openxmlformats.org/drawingml/2006/main" w="11430">
            <a:solidFill>
              <a:srgbClr val="284D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78237-E5C8-4BA8-A7C9-068E81A0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1390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4E769-5D83-4763-B15E-3435BA7A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190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38221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85404-7C0D-4ABD-AEE3-7A4F7AF6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E1DB7-D792-42A3-882C-D81A5ECD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ECE06-3993-4330-BF8E-69F56FEF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</a:defRPr>
            </a:pPr>
            <a:r>
              <a:rPr sz="3150" b="1">
                <a:solidFill>
                  <a:srgbClr val="F5F7FA"/>
                </a:solidFill>
              </a:rPr>
              <a:t>AI is becoming infrastructure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26C5C-7D18-47D9-B06C-D94BCF11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3429000" cy="647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63C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25DCE-814C-4B07-A773-A2184810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Infrastructure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53752-BA51-4A10-9D47-0E0F0C6E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3429000" cy="647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63C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FC31D-9845-4BA3-971F-6CE236B8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337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D6366-359F-4E3C-8725-79C815B7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76650"/>
            <a:ext cx="3429000" cy="647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2A3A"/>
          </a:solidFill>
          <a:ln xmlns:a="http://schemas.openxmlformats.org/drawingml/2006/main" w="11430">
            <a:solidFill>
              <a:srgbClr val="38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58AB6-D3DC-4284-BFBA-E24CF5CF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719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BF2FF"/>
                </a:solidFill>
              </a:defRPr>
            </a:pPr>
            <a:r>
              <a:rPr sz="1950" b="1">
                <a:solidFill>
                  <a:srgbClr val="9BF2FF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8A4BA-7DB2-4D35-91CB-914D119D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DC028-43D1-4352-9EA1-B0E86BB1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2410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12093-AE57-4799-AA0B-E482E5EE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55"/>
          </a:solidFill>
          <a:ln xmlns:a="http://schemas.openxmlformats.org/drawingml/2006/main" w="0">
            <a:solidFill>
              <a:srgbClr val="3442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B8632-DD5C-47BF-9502-C74C5091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381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7FA"/>
                </a:solidFill>
              </a:defRPr>
            </a:pPr>
            <a:r>
              <a:rPr sz="2100" b="1">
                <a:solidFill>
                  <a:srgbClr val="F5F7FA"/>
                </a:solidFill>
              </a:rPr>
              <a:t>Clinical continuity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F3EA4-52C2-43D0-A4C9-BB227DC9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AA7B8"/>
                </a:solidFill>
              </a:defRPr>
            </a:pPr>
            <a:r>
              <a:rPr sz="1725" b="0">
                <a:solidFill>
                  <a:srgbClr val="9AA7B8"/>
                </a:solidFill>
              </a:rPr>
              <a:t>Cyber incidents can disrupt care</a:t>
            </a:r>
          </a:p>
        </p:txBody>
      </p:sp>
    </p:spTree>
    <p:extLst>
      <p:ext uri="{BB962C8B-B14F-4D97-AF65-F5344CB8AC3E}">
        <p14:creationId xmlns:p14="http://schemas.microsoft.com/office/powerpoint/2010/main" val="1026775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F437B-B508-4D2B-B0C6-386FC80A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405B6-88DB-49DB-9129-867C0679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C7BE2-5E2A-4836-BB04-399A8982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</a:defRPr>
            </a:pPr>
            <a:r>
              <a:rPr sz="3300" b="1">
                <a:solidFill>
                  <a:srgbClr val="F5F7FA"/>
                </a:solidFill>
              </a:rPr>
              <a:t>Risk grows with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1422B-DD55-4FFB-ADA4-6DD53C01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1809750" cy="895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A3C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7F6CF-62AC-4F67-93BF-AA57B9C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053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22A63-2366-49D7-8D3B-9EEB9F28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2095500" cy="895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A3C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487C5-1C50-4D4B-B674-40020827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052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Viewer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0DD0C-5314-4EA7-B003-70682639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2571750" cy="895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A3C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2618E-3CC2-4022-9005-412024C1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004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Platform / 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17CD1-025C-4F61-B149-8A2028B7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2952750" cy="895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72338"/>
          </a:solidFill>
          <a:ln xmlns:a="http://schemas.openxmlformats.org/drawingml/2006/main" w="11430">
            <a:solidFill>
              <a:srgbClr val="38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CA60C-5A32-4982-BD6A-B46A812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193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BF2FF"/>
                </a:solidFill>
              </a:defRPr>
            </a:pPr>
            <a:r>
              <a:rPr sz="1650" b="1">
                <a:solidFill>
                  <a:srgbClr val="9BF2FF"/>
                </a:solidFill>
              </a:rPr>
              <a:t>Connected Medical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EC783-E1B6-439B-B5F1-D17CE79B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809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B1193-CF95-4B16-86F7-A342CA7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95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F2FF"/>
                </a:solidFill>
              </a:defRPr>
            </a:pPr>
            <a:r>
              <a:rPr sz="1500" b="0">
                <a:solidFill>
                  <a:srgbClr val="9BF2FF"/>
                </a:solidFill>
              </a:rPr>
              <a:t>Evidence grows</a:t>
            </a:r>
          </a:p>
        </p:txBody>
      </p:sp>
    </p:spTree>
    <p:extLst>
      <p:ext uri="{BB962C8B-B14F-4D97-AF65-F5344CB8AC3E}">
        <p14:creationId xmlns:p14="http://schemas.microsoft.com/office/powerpoint/2010/main" val="367318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BDD05-F194-4458-939B-74A2D1C1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6F95C-F088-470D-ADA3-4FB05F2C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7465E-2F59-4BB3-B7C1-760849A4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</a:defRPr>
            </a:pPr>
            <a:r>
              <a:rPr sz="3300" b="1">
                <a:solidFill>
                  <a:srgbClr val="F5F7FA"/>
                </a:solidFill>
              </a:rPr>
              <a:t>Evidence, not slogans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C5A1A-A116-4BC1-B962-9073DF29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428750" cy="781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FC01C-A2BF-4CE3-8543-5E441BC4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</a:defRPr>
            </a:pPr>
            <a:r>
              <a:rPr sz="1875" b="1">
                <a:solidFill>
                  <a:srgbClr val="F5F7FA"/>
                </a:solidFill>
              </a:rPr>
              <a:t>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B74BB-1FD0-4515-BBEE-B59E2158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428625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E108A-FDC1-4560-9F3D-908CB0D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57500"/>
            <a:ext cx="1428750" cy="781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8FCA1-1552-4B53-B603-E51061B6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0990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</a:defRPr>
            </a:pPr>
            <a:r>
              <a:rPr sz="1875" b="1">
                <a:solidFill>
                  <a:srgbClr val="F5F7FA"/>
                </a:solidFill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99C87-6E96-4D9D-9928-AA978928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428625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60750-5F5F-45C0-8EF7-6A9B2AF6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1428750" cy="781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54C73-589D-4037-BBC7-465CEE39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990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</a:defRPr>
            </a:pPr>
            <a:r>
              <a:rPr sz="1875" b="1">
                <a:solidFill>
                  <a:srgbClr val="F5F7FA"/>
                </a:solidFill>
              </a:rPr>
              <a:t>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32382-3FDD-4163-ACED-E21A021D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428625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97E45-A287-4569-8387-0C3DF2A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1428750" cy="781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668CC-427A-49D7-8C46-2A321138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0990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A"/>
                </a:solidFill>
              </a:defRPr>
            </a:pPr>
            <a:r>
              <a:rPr sz="1875" b="1">
                <a:solidFill>
                  <a:srgbClr val="F5F7FA"/>
                </a:solidFill>
              </a:rPr>
              <a:t>Fix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19DB8-29D8-4555-841A-2FAED762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428625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E35DC-8A6B-45C4-AF91-4AABCAB8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428750" cy="781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2C3A"/>
          </a:solidFill>
          <a:ln xmlns:a="http://schemas.openxmlformats.org/drawingml/2006/main" w="11430">
            <a:solidFill>
              <a:srgbClr val="38D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2AF89-00CC-46F3-8D65-883B32F8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BF2FF"/>
                </a:solidFill>
              </a:defRPr>
            </a:pPr>
            <a:r>
              <a:rPr sz="1875" b="1">
                <a:solidFill>
                  <a:srgbClr val="9BF2FF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1E0F3-BB7A-42C8-96D8-2EB6529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33875"/>
            <a:ext cx="1238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38D7FF">
              <a:alpha val="9412"/>
            </a:srgbClr>
          </a:solidFill>
          <a:ln xmlns:a="http://schemas.openxmlformats.org/drawingml/2006/main" w="11430">
            <a:solidFill>
              <a:srgbClr val="38D7FF">
                <a:alpha val="5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2C8FE-204C-41C6-A2CD-C5104807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434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7FF"/>
                </a:solidFill>
              </a:defRPr>
            </a:pPr>
            <a:r>
              <a:rPr sz="1275" b="1">
                <a:solidFill>
                  <a:srgbClr val="38D7FF"/>
                </a:solidFill>
              </a:rPr>
              <a:t>Monitor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ACCF00-54B1-4CB4-8F2B-2C400C2C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33875"/>
            <a:ext cx="1238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4D5E">
              <a:alpha val="9412"/>
            </a:srgbClr>
          </a:solidFill>
          <a:ln xmlns:a="http://schemas.openxmlformats.org/drawingml/2006/main" w="11430">
            <a:solidFill>
              <a:srgbClr val="FF4D5E">
                <a:alpha val="5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91186-F752-482A-87D2-44CC482E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434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4D5E"/>
                </a:solidFill>
              </a:defRPr>
            </a:pPr>
            <a:r>
              <a:rPr sz="1275" b="1">
                <a:solidFill>
                  <a:srgbClr val="FF4D5E"/>
                </a:solidFill>
              </a:rPr>
              <a:t>CVD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04F66-ABC0-4CAF-AD3D-7786D485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33875"/>
            <a:ext cx="1238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38D7FF">
              <a:alpha val="9412"/>
            </a:srgbClr>
          </a:solidFill>
          <a:ln xmlns:a="http://schemas.openxmlformats.org/drawingml/2006/main" w="11430">
            <a:solidFill>
              <a:srgbClr val="38D7FF">
                <a:alpha val="5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36241-7E88-4283-A05D-DFA68E5C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434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7FF"/>
                </a:solidFill>
              </a:defRPr>
            </a:pPr>
            <a:r>
              <a:rPr sz="1275" b="1">
                <a:solidFill>
                  <a:srgbClr val="38D7FF"/>
                </a:solidFill>
              </a:rPr>
              <a:t>Patch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C4C5B5-6353-4F16-843E-E15E2C15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33875"/>
            <a:ext cx="12382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38D7FF">
              <a:alpha val="9412"/>
            </a:srgbClr>
          </a:solidFill>
          <a:ln xmlns:a="http://schemas.openxmlformats.org/drawingml/2006/main" w="11430">
            <a:solidFill>
              <a:srgbClr val="38D7FF">
                <a:alpha val="5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9E514-065F-4A46-898B-19D81785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434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7FF"/>
                </a:solidFill>
              </a:defRPr>
            </a:pPr>
            <a:r>
              <a:rPr sz="1275" b="1">
                <a:solidFill>
                  <a:srgbClr val="38D7FF"/>
                </a:solidFill>
              </a:rPr>
              <a:t>SBOM</a:t>
            </a:r>
          </a:p>
        </p:txBody>
      </p:sp>
    </p:spTree>
    <p:extLst>
      <p:ext uri="{BB962C8B-B14F-4D97-AF65-F5344CB8AC3E}">
        <p14:creationId xmlns:p14="http://schemas.microsoft.com/office/powerpoint/2010/main" val="2139756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4D231-0F76-4CA4-9CE1-EFFFE9B4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F5411-919C-438E-947E-98F1D78E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1C35C-AAB0-436F-8213-DE4D78CB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</a:defRPr>
            </a:pPr>
            <a:r>
              <a:rPr sz="3300" b="1">
                <a:solidFill>
                  <a:srgbClr val="F5F7FA"/>
                </a:solidFill>
              </a:rPr>
              <a:t>Model, governance,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53B22-80F0-4CBC-8772-3046BDF1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2857500" cy="2686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17210-3F1E-4E26-86A0-173097A1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76500"/>
            <a:ext cx="2400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Model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08A5F-995B-4582-A712-83D65914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432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7B8"/>
                </a:solidFill>
              </a:defRPr>
            </a:pPr>
            <a:r>
              <a:rPr sz="1575" b="0">
                <a:solidFill>
                  <a:srgbClr val="9AA7B8"/>
                </a:solidFill>
              </a:rPr>
              <a:t>Intended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99B78-1E48-475B-9828-8E5BC9AA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051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B93B9-1419-4533-A8A0-AD9CAF36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385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7B8"/>
                </a:solidFill>
              </a:defRPr>
            </a:pPr>
            <a:r>
              <a:rPr sz="1575" b="0">
                <a:solidFill>
                  <a:srgbClr val="9AA7B8"/>
                </a:solidFill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C4ED0-7955-4D7A-BAE5-D2828DC9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004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94BE5-34E3-44F8-BD30-4B36ABBC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133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7B8"/>
                </a:solidFill>
              </a:defRPr>
            </a:pPr>
            <a:r>
              <a:rPr sz="1575" b="0">
                <a:solidFill>
                  <a:srgbClr val="9AA7B8"/>
                </a:solidFill>
              </a:rPr>
              <a:t>V&amp;V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82238-F889-47B5-9B5D-63AB6BD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957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18B6E-230A-4070-8D9A-CA561EAE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2857500" cy="2686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11F34"/>
          </a:solidFill>
          <a:ln xmlns:a="http://schemas.openxmlformats.org/drawingml/2006/main" w="11430">
            <a:solidFill>
              <a:srgbClr val="38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2FF8E-A050-4304-B90F-DBEDC682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0"/>
            <a:ext cx="2400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BF2FF"/>
                </a:solidFill>
              </a:defRPr>
            </a:pPr>
            <a:r>
              <a:rPr sz="1800" b="1">
                <a:solidFill>
                  <a:srgbClr val="9BF2FF"/>
                </a:solidFill>
              </a:rPr>
              <a:t>AI RMF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2524B-361F-476B-BD51-B5C16148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7B8"/>
                </a:solidFill>
              </a:defRPr>
            </a:pPr>
            <a:r>
              <a:rPr sz="1575" b="0">
                <a:solidFill>
                  <a:srgbClr val="9AA7B8"/>
                </a:solidFill>
              </a:rPr>
              <a:t>Govern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3DB8E-F47E-4C9D-A937-AA933EE1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051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2AC0F-6A96-46F7-AEC8-86610156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385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7B8"/>
                </a:solidFill>
              </a:defRPr>
            </a:pPr>
            <a:r>
              <a:rPr sz="1575" b="0">
                <a:solidFill>
                  <a:srgbClr val="9AA7B8"/>
                </a:solidFill>
              </a:rPr>
              <a:t>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3F557-9427-415C-A32C-595B1031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004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C6D3A-7575-4BE1-900F-1EAA5AF7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33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7B8"/>
                </a:solidFill>
              </a:defRPr>
            </a:pPr>
            <a:r>
              <a:rPr sz="1575" b="0">
                <a:solidFill>
                  <a:srgbClr val="9AA7B8"/>
                </a:solidFill>
              </a:rPr>
              <a:t>Measure / Manage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A9B8C-C3A8-4CE9-BAF3-7EFB4D9B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957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FB620-0855-47AD-87B4-3FC3E42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38375"/>
            <a:ext cx="2857500" cy="2686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312AB-C009-4337-82E3-264F408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76500"/>
            <a:ext cx="2400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AI stack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D3F53-5546-4C7F-A24F-798F9DAF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432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7B8"/>
                </a:solidFill>
              </a:defRPr>
            </a:pPr>
            <a:r>
              <a:rPr sz="1575" b="0">
                <a:solidFill>
                  <a:srgbClr val="9AA7B8"/>
                </a:solidFill>
              </a:rPr>
              <a:t>Provenance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292A8-9716-4A46-B69A-82498200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051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28EECA-DE52-4920-BBAE-5193F199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385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7B8"/>
                </a:solidFill>
              </a:defRPr>
            </a:pPr>
            <a:r>
              <a:rPr sz="1575" b="0">
                <a:solidFill>
                  <a:srgbClr val="9AA7B8"/>
                </a:solidFill>
              </a:rPr>
              <a:t>Isolation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F88DB7-5F1B-482A-ABD4-985C00CF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004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30303-86E7-44B7-94D0-08EC4003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33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7B8"/>
                </a:solidFill>
              </a:defRPr>
            </a:pPr>
            <a:r>
              <a:rPr sz="1575" b="0">
                <a:solidFill>
                  <a:srgbClr val="9AA7B8"/>
                </a:solidFill>
              </a:rPr>
              <a:t>Updates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5C3204-D33D-403E-BB2F-6C4AB95A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957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1931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EF497-C77E-413D-9866-569EA4E9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DF1C9-5673-466F-B6DE-F67FAA59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34229-6C18-4B23-9680-0906A43C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</a:defRPr>
            </a:pPr>
            <a:r>
              <a:rPr sz="3300" b="1">
                <a:solidFill>
                  <a:srgbClr val="F5F7FA"/>
                </a:solidFill>
              </a:rPr>
              <a:t>Scale 1-2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39190-BAC9-424A-9352-81B8F67C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629150" cy="2952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38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98CBD-472D-4403-8DDD-B7E5BEEE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7FF"/>
                </a:solidFill>
              </a:defRPr>
            </a:pPr>
            <a:r>
              <a:rPr sz="2250" b="1">
                <a:solidFill>
                  <a:srgbClr val="38D7FF"/>
                </a:solidFill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FC464-99D7-4EFF-A4D9-77860FF7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62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Artifact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35920-4772-4B85-89DF-F5932525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Data lineage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88FE9-879B-402A-97AD-A1EFCE6D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SBOM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162BE-98AB-4DEF-BBC2-1C10533E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Update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78EF7-733C-481A-8F3B-E6E049F7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629150" cy="2952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FF4D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F6204-32C1-4C82-ABDC-38FC3E29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574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4D5E"/>
                </a:solidFill>
              </a:defRPr>
            </a:pPr>
            <a:r>
              <a:rPr sz="2250" b="1">
                <a:solidFill>
                  <a:srgbClr val="FF4D5E"/>
                </a:solidFill>
              </a:rPr>
              <a:t>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969B6-EF93-404B-871D-7AE65118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Parser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D57A4-AF42-4315-80B0-230BF973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62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Upload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7994A-C202-4927-A202-591DBDE4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7E42E-6173-483D-8451-8BFBF9F1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Output limits</a:t>
            </a:r>
          </a:p>
        </p:txBody>
      </p:sp>
    </p:spTree>
    <p:extLst>
      <p:ext uri="{BB962C8B-B14F-4D97-AF65-F5344CB8AC3E}">
        <p14:creationId xmlns:p14="http://schemas.microsoft.com/office/powerpoint/2010/main" val="16441074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C2812-ABD3-41AC-8C04-6DD64FF7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D32AF-6765-4AB8-A53B-A873332C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72AC7-1C05-4C80-9788-C7154EB5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</a:defRPr>
            </a:pPr>
            <a:r>
              <a:rPr sz="3300" b="1">
                <a:solidFill>
                  <a:srgbClr val="F5F7FA"/>
                </a:solidFill>
              </a:rPr>
              <a:t>Scale 3-4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427F6-F02B-4F34-BE26-FF550587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629150" cy="2952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38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CDB25-9A9F-468D-939F-481C5A26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7FF"/>
                </a:solidFill>
              </a:defRPr>
            </a:pPr>
            <a:r>
              <a:rPr sz="2250" b="1">
                <a:solidFill>
                  <a:srgbClr val="38D7FF"/>
                </a:solidFill>
              </a:rPr>
              <a:t>Platform / Database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9502E-AB12-4A73-8592-4F02F942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62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4C3BA-2433-404D-A6FD-0018D62E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Backup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01D2C-24E5-47C4-B465-E33CDEA9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7BE21-601B-4C82-9709-125FDBC0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2BCA2-4323-4D16-81CB-171A3664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Audit 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02B6A-2FF6-40CC-84C3-937F14C9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629150" cy="2952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FF4D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56B10-63E9-4825-93A3-9203D565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574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4D5E"/>
                </a:solidFill>
              </a:defRPr>
            </a:pPr>
            <a:r>
              <a:rPr sz="2250" b="1">
                <a:solidFill>
                  <a:srgbClr val="FF4D5E"/>
                </a:solidFill>
              </a:rPr>
              <a:t>Connected Medical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242ED-4960-4A7E-967E-63C25EE7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PACS / HIS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755D6-A371-4F06-8758-2CF759C1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62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Hospital 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DC8DD-E814-4642-9C89-D0182114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Update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581B6-27B6-4D77-B51E-E96D9522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Remote service</a:t>
            </a:r>
          </a:p>
        </p:txBody>
      </p:sp>
    </p:spTree>
    <p:extLst>
      <p:ext uri="{BB962C8B-B14F-4D97-AF65-F5344CB8AC3E}">
        <p14:creationId xmlns:p14="http://schemas.microsoft.com/office/powerpoint/2010/main" val="7671908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42401-CB8A-4BC7-B4A6-9342BAC1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13840-FD20-4EF0-AE09-01F335B2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93125-14D0-469A-841C-DDE84FB3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781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A"/>
                </a:solidFill>
              </a:defRPr>
            </a:pPr>
            <a:r>
              <a:rPr sz="4350" b="1">
                <a:solidFill>
                  <a:srgbClr val="F5F7FA"/>
                </a:solidFill>
              </a:rPr>
              <a:t>Cyber Safety Is Patient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DE6A4-E0E6-4995-AB9A-0452B675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7B8"/>
                </a:solidFill>
              </a:defRPr>
            </a:pPr>
            <a:r>
              <a:rPr sz="1500" b="0">
                <a:solidFill>
                  <a:srgbClr val="9AA7B8"/>
                </a:solidFill>
              </a:rPr>
              <a:t>Vendor responsibility | Hospital continuity | Clinical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42F3D-E093-4B61-8D80-56C7D91E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0975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/>
          </a:solidFill>
          <a:ln xmlns:a="http://schemas.openxmlformats.org/drawingml/2006/main" w="0">
            <a:solidFill>
              <a:srgbClr val="FF4D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43789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A78ED-9B96-4A73-9222-33340870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6917B-6FA9-4A78-BFA9-A14744E7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679D4-A3CB-424A-BAB6-423924FC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</a:defRPr>
            </a:pPr>
            <a:r>
              <a:rPr sz="3300" b="1">
                <a:solidFill>
                  <a:srgbClr val="F5F7FA"/>
                </a:solidFill>
              </a:rPr>
              <a:t>White-box + Black-box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611D-6D9F-4377-A746-BF0AA01E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629150" cy="2238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38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7BCD3-227A-48BD-BC95-21F66CEB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7FF"/>
                </a:solidFill>
              </a:defRPr>
            </a:pPr>
            <a:r>
              <a:rPr sz="2250" b="1">
                <a:solidFill>
                  <a:srgbClr val="38D7FF"/>
                </a:solidFill>
              </a:rPr>
              <a:t>White-box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25244-2CE2-4A75-A7F0-AB5CE7BD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62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Repair before 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07C38-0B6E-4104-9DC7-15AFE755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629150" cy="2238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FF4D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4F71A-75F0-47E7-A39B-3B7C121F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574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4D5E"/>
                </a:solidFill>
              </a:defRPr>
            </a:pPr>
            <a:r>
              <a:rPr sz="2250" b="1">
                <a:solidFill>
                  <a:srgbClr val="FF4D5E"/>
                </a:solidFill>
              </a:rPr>
              <a:t>Black-box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CFEFC-DA7E-475C-BA84-A4135F00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62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Validate external exposure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C90F9-ED57-41ED-A71A-FFB65579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48250"/>
            <a:ext cx="6381750" cy="609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0F2435"/>
          </a:solidFill>
          <a:ln xmlns:a="http://schemas.openxmlformats.org/drawingml/2006/main" w="11430">
            <a:solidFill>
              <a:srgbClr val="38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B34B-C40B-4CD6-9531-27F88B9D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43500"/>
            <a:ext cx="600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BF2FF"/>
                </a:solidFill>
              </a:defRPr>
            </a:pPr>
            <a:r>
              <a:rPr sz="1950" b="1">
                <a:solidFill>
                  <a:srgbClr val="9BF2FF"/>
                </a:solidFill>
              </a:rPr>
              <a:t>Finding list + retest evidence</a:t>
            </a:r>
          </a:p>
        </p:txBody>
      </p:sp>
    </p:spTree>
    <p:extLst>
      <p:ext uri="{BB962C8B-B14F-4D97-AF65-F5344CB8AC3E}">
        <p14:creationId xmlns:p14="http://schemas.microsoft.com/office/powerpoint/2010/main" val="13886673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A95EC-8751-4833-BC6F-5B739BDD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3EE5C-10D1-4E1F-AFBB-A23B0C51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5F0A2-60F2-4FB3-9B5D-9E99CA90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7FA"/>
                </a:solidFill>
              </a:defRPr>
            </a:pPr>
            <a:r>
              <a:rPr sz="3600" b="1">
                <a:solidFill>
                  <a:srgbClr val="F5F7FA"/>
                </a:solidFill>
              </a:rPr>
              <a:t>Patch SLA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87585-BAE7-466D-A0EF-B54113DD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571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BF2FF"/>
                </a:solidFill>
              </a:defRPr>
            </a:pPr>
            <a:r>
              <a:rPr sz="2025" b="0">
                <a:solidFill>
                  <a:srgbClr val="9BF2FF"/>
                </a:solidFill>
              </a:rPr>
              <a:t>Every finding needs a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2CDD8-54C9-4140-8DC7-86DC2F28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257300" cy="685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4BB1F-4CDE-4EF1-8A51-F7FF1479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041F8-03EC-4EE3-81C1-3917264F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95650"/>
            <a:ext cx="400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B1430-D269-4862-BA80-4D0D2DC7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1257300" cy="685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6B24A-7701-4DA2-843F-3A17F31C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861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D801F-7C85-46FD-8443-1D2DAAEA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95650"/>
            <a:ext cx="400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9319F-5EFD-447A-998C-C87FC568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14625"/>
            <a:ext cx="163830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F3F"/>
          </a:solidFill>
          <a:ln xmlns:a="http://schemas.openxmlformats.org/drawingml/2006/main" w="22860">
            <a:solidFill>
              <a:srgbClr val="38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95E0E-A779-417B-9881-F17976B9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47975"/>
            <a:ext cx="148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BF2FF"/>
                </a:solidFill>
              </a:defRPr>
            </a:pPr>
            <a:r>
              <a:rPr sz="2325" b="1">
                <a:solidFill>
                  <a:srgbClr val="9BF2FF"/>
                </a:solidFill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4ACEB-3703-4405-9B3E-1FE989EC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95650"/>
            <a:ext cx="400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DC67B-4D77-42B4-96D4-40DFB20C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1257300" cy="685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B6E14-6F9D-437B-9AD9-2A28A3A9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861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CA29C-76A8-4685-877B-768E5DFE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400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33ED1-8110-4981-B7F2-33E891E6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1257300" cy="685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FDF79-26A6-4CAF-8CD1-74ED479E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Retest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442D9-626B-4424-9269-1BB14E9C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400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7280E-1007-4C0B-B195-55EFC11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1257300" cy="685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42147-55C9-4521-8C99-3B63EEF0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861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Archive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DAA71-0439-431F-9B1B-E74A7978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0125"/>
            <a:ext cx="14287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38D7FF">
              <a:alpha val="9412"/>
            </a:srgbClr>
          </a:solidFill>
          <a:ln xmlns:a="http://schemas.openxmlformats.org/drawingml/2006/main" w="11430">
            <a:solidFill>
              <a:srgbClr val="38D7FF">
                <a:alpha val="5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2905A-79B8-4C9B-B9CA-FFD785B9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96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7FF"/>
                </a:solidFill>
              </a:defRPr>
            </a:pPr>
            <a:r>
              <a:rPr sz="1275" b="1">
                <a:solidFill>
                  <a:srgbClr val="38D7FF"/>
                </a:solidFill>
              </a:rPr>
              <a:t>Fix now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9CDC26-91AE-4F91-A656-45670A12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10125"/>
            <a:ext cx="14287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38D7FF">
              <a:alpha val="9412"/>
            </a:srgbClr>
          </a:solidFill>
          <a:ln xmlns:a="http://schemas.openxmlformats.org/drawingml/2006/main" w="11430">
            <a:solidFill>
              <a:srgbClr val="38D7FF">
                <a:alpha val="5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32B29-71C2-4455-89EB-60117D45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196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7FF"/>
                </a:solidFill>
              </a:defRPr>
            </a:pPr>
            <a:r>
              <a:rPr sz="1275" b="1">
                <a:solidFill>
                  <a:srgbClr val="38D7FF"/>
                </a:solidFill>
              </a:rPr>
              <a:t>Compensate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0E3AC1-80AD-47E8-BAE5-F90FFDD6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10125"/>
            <a:ext cx="14287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4D5E">
              <a:alpha val="9412"/>
            </a:srgbClr>
          </a:solidFill>
          <a:ln xmlns:a="http://schemas.openxmlformats.org/drawingml/2006/main" w="11430">
            <a:solidFill>
              <a:srgbClr val="FF4D5E">
                <a:alpha val="5333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98646E-4FF9-4266-ADA7-E908EB7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196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4D5E"/>
                </a:solidFill>
              </a:defRPr>
            </a:pPr>
            <a:r>
              <a:rPr sz="1275" b="1">
                <a:solidFill>
                  <a:srgbClr val="FF4D5E"/>
                </a:solidFill>
              </a:rPr>
              <a:t>Defer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84CB5D-0B23-46DA-BB3B-E2A140E3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1428750" cy="4000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38D7FF">
              <a:alpha val="9412"/>
            </a:srgbClr>
          </a:solidFill>
          <a:ln xmlns:a="http://schemas.openxmlformats.org/drawingml/2006/main" w="11430">
            <a:solidFill>
              <a:srgbClr val="38D7FF">
                <a:alpha val="53333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D5B595-A0D8-4497-94BC-1A5A95B6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7FF"/>
                </a:solidFill>
              </a:defRPr>
            </a:pPr>
            <a:r>
              <a:rPr sz="1275" b="1">
                <a:solidFill>
                  <a:srgbClr val="38D7FF"/>
                </a:solidFill>
              </a:rPr>
              <a:t>Not applicable</a:t>
            </a:r>
          </a:p>
        </p:txBody>
      </p:sp>
    </p:spTree>
    <p:extLst>
      <p:ext uri="{BB962C8B-B14F-4D97-AF65-F5344CB8AC3E}">
        <p14:creationId xmlns:p14="http://schemas.microsoft.com/office/powerpoint/2010/main" val="7019562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A2DA7-D2B6-4E93-A1F7-1FCEF980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238FA-ECAC-47CC-B4A6-4A50DF11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12A7F-4AB9-4D95-BA0C-5FA11BF4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5F7FA"/>
                </a:solidFill>
              </a:defRPr>
            </a:pPr>
            <a:r>
              <a:rPr sz="3300" b="1">
                <a:solidFill>
                  <a:srgbClr val="F5F7FA"/>
                </a:solidFill>
              </a:rPr>
              <a:t>Small Team 30 / 60 / 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02D2C-C143-4B3D-AE5C-D4BBCCEA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2857500" cy="2524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B6FA5-1B61-4C0F-A370-2A20F272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</a:defRPr>
            </a:pPr>
            <a:r>
              <a:rPr sz="3600" b="1">
                <a:solidFill>
                  <a:srgbClr val="F5F7FA"/>
                </a:solidFill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53881-73C8-407D-9C74-0D733CF5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5280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AA7B8"/>
                </a:solidFill>
              </a:defRPr>
            </a:pPr>
            <a:r>
              <a:rPr sz="1650" b="0">
                <a:solidFill>
                  <a:srgbClr val="9AA7B8"/>
                </a:solidFill>
              </a:rPr>
              <a:t>Inventory</a:t>
            </a:r>
          </a:p>
          <a:p xmlns:a="http://schemas.openxmlformats.org/drawingml/2006/main">
            <a:pPr algn="ctr">
              <a:defRPr sz="1650" b="0">
                <a:solidFill>
                  <a:srgbClr val="9AA7B8"/>
                </a:solidFill>
              </a:defRPr>
            </a:pPr>
            <a:r>
              <a:rPr sz="1650" b="0">
                <a:solidFill>
                  <a:srgbClr val="9AA7B8"/>
                </a:solidFill>
              </a:rPr>
              <a:t>SBOM</a:t>
            </a:r>
          </a:p>
          <a:p xmlns:a="http://schemas.openxmlformats.org/drawingml/2006/main">
            <a:pPr algn="ctr">
              <a:defRPr sz="1650" b="0">
                <a:solidFill>
                  <a:srgbClr val="9AA7B8"/>
                </a:solidFill>
              </a:defRPr>
            </a:pPr>
            <a:r>
              <a:rPr sz="1650" b="0">
                <a:solidFill>
                  <a:srgbClr val="9AA7B8"/>
                </a:solidFill>
              </a:rPr>
              <a:t>Data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7C2CE-5DCA-484F-813C-054D4B60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24100"/>
            <a:ext cx="2857500" cy="2524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11430">
            <a:solidFill>
              <a:srgbClr val="2B3B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17A7D-465C-47F2-A157-99A06002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527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7FA"/>
                </a:solidFill>
              </a:defRPr>
            </a:pPr>
            <a:r>
              <a:rPr sz="3600" b="1">
                <a:solidFill>
                  <a:srgbClr val="F5F7FA"/>
                </a:solidFill>
              </a:rPr>
              <a:t>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9966A-1E35-49B4-BE56-BE2CB300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35280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AA7B8"/>
                </a:solidFill>
              </a:defRPr>
            </a:pPr>
            <a:r>
              <a:rPr sz="1650" b="0">
                <a:solidFill>
                  <a:srgbClr val="9AA7B8"/>
                </a:solidFill>
              </a:rPr>
              <a:t>Threat model</a:t>
            </a:r>
          </a:p>
          <a:p xmlns:a="http://schemas.openxmlformats.org/drawingml/2006/main">
            <a:pPr algn="ctr">
              <a:defRPr sz="1650" b="0">
                <a:solidFill>
                  <a:srgbClr val="9AA7B8"/>
                </a:solidFill>
              </a:defRPr>
            </a:pPr>
            <a:r>
              <a:rPr sz="1650" b="0">
                <a:solidFill>
                  <a:srgbClr val="9AA7B8"/>
                </a:solidFill>
              </a:rPr>
              <a:t>CI gates</a:t>
            </a:r>
          </a:p>
          <a:p xmlns:a="http://schemas.openxmlformats.org/drawingml/2006/main">
            <a:pPr algn="ctr">
              <a:defRPr sz="1650" b="0">
                <a:solidFill>
                  <a:srgbClr val="9AA7B8"/>
                </a:solidFill>
              </a:defRPr>
            </a:pPr>
            <a:r>
              <a:rPr sz="1650" b="0">
                <a:solidFill>
                  <a:srgbClr val="9AA7B8"/>
                </a:solidFill>
              </a:rPr>
              <a:t>Finding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89F92-C0FF-4D4C-AEEE-90D15A43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2857500" cy="2524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11F34"/>
          </a:solidFill>
          <a:ln xmlns:a="http://schemas.openxmlformats.org/drawingml/2006/main" w="11430">
            <a:solidFill>
              <a:srgbClr val="38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972CA-6799-4006-B56F-853159FD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9BF2FF"/>
                </a:solidFill>
              </a:defRPr>
            </a:pPr>
            <a:r>
              <a:rPr sz="3600" b="1">
                <a:solidFill>
                  <a:srgbClr val="9BF2FF"/>
                </a:solidFill>
              </a:rPr>
              <a:t>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1A5B0-EABF-409E-ADCE-283F1844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AA7B8"/>
                </a:solidFill>
              </a:defRPr>
            </a:pPr>
            <a:r>
              <a:rPr sz="1650" b="0">
                <a:solidFill>
                  <a:srgbClr val="9AA7B8"/>
                </a:solidFill>
              </a:rPr>
              <a:t>Pen test</a:t>
            </a:r>
          </a:p>
          <a:p xmlns:a="http://schemas.openxmlformats.org/drawingml/2006/main">
            <a:pPr algn="ctr">
              <a:defRPr sz="1650" b="0">
                <a:solidFill>
                  <a:srgbClr val="9AA7B8"/>
                </a:solidFill>
              </a:defRPr>
            </a:pPr>
            <a:r>
              <a:rPr sz="1650" b="0">
                <a:solidFill>
                  <a:srgbClr val="9AA7B8"/>
                </a:solidFill>
              </a:rPr>
              <a:t>Patch SLA</a:t>
            </a:r>
          </a:p>
          <a:p xmlns:a="http://schemas.openxmlformats.org/drawingml/2006/main">
            <a:pPr algn="ctr">
              <a:defRPr sz="1650" b="0">
                <a:solidFill>
                  <a:srgbClr val="9AA7B8"/>
                </a:solidFill>
              </a:defRPr>
            </a:pPr>
            <a:r>
              <a:rPr sz="1650" b="0">
                <a:solidFill>
                  <a:srgbClr val="9AA7B8"/>
                </a:solidFill>
              </a:rPr>
              <a:t>Retest evidence</a:t>
            </a:r>
          </a:p>
        </p:txBody>
      </p:sp>
    </p:spTree>
    <p:extLst>
      <p:ext uri="{BB962C8B-B14F-4D97-AF65-F5344CB8AC3E}">
        <p14:creationId xmlns:p14="http://schemas.microsoft.com/office/powerpoint/2010/main" val="18554731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9DD5D9-B604-4DEB-8B17-675AE7678F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71877-A23A-4C05-B579-1254A24C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D"/>
          </a:solidFill>
          <a:ln xmlns:a="http://schemas.openxmlformats.org/drawingml/2006/main" w="0">
            <a:solidFill>
              <a:srgbClr val="1E2B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7AA35-ABE9-4DAA-B035-169B76B6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A63FF-B3F8-424F-A9C5-C066AFD4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781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7FA"/>
                </a:solidFill>
              </a:defRPr>
            </a:pPr>
            <a:r>
              <a:rPr sz="3750" b="1">
                <a:solidFill>
                  <a:srgbClr val="F5F7FA"/>
                </a:solidFill>
              </a:rPr>
              <a:t>先把安全做進產品</a:t>
            </a:r>
          </a:p>
          <a:p xmlns:a="http://schemas.openxmlformats.org/drawingml/2006/main">
            <a:pPr algn="l">
              <a:defRPr sz="3750" b="1">
                <a:solidFill>
                  <a:srgbClr val="F5F7FA"/>
                </a:solidFill>
              </a:defRPr>
            </a:pPr>
            <a:r>
              <a:rPr sz="3750" b="1">
                <a:solidFill>
                  <a:srgbClr val="F5F7FA"/>
                </a:solidFill>
              </a:rPr>
              <a:t>法規文件才會自然長出來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020BC-B64F-401D-8425-874C8CA3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BF2FF"/>
                </a:solidFill>
              </a:defRPr>
            </a:pPr>
            <a:r>
              <a:rPr sz="1800" b="0">
                <a:solidFill>
                  <a:srgbClr val="9BF2FF"/>
                </a:solidFill>
              </a:rPr>
              <a:t>Build trust before the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DAAEC-3E5C-4FDA-99EF-2599CBD1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7FF"/>
          </a:solidFill>
          <a:ln xmlns:a="http://schemas.openxmlformats.org/drawingml/2006/main" w="0">
            <a:solidFill>
              <a:srgbClr val="38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B2A39-C653-477C-BBBD-E89AD1B3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55"/>
          </a:solidFill>
          <a:ln xmlns:a="http://schemas.openxmlformats.org/drawingml/2006/main" w="0">
            <a:solidFill>
              <a:srgbClr val="3442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A6A9D-D59F-49BE-8FDD-8E3989CA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143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55"/>
          </a:solidFill>
          <a:ln xmlns:a="http://schemas.openxmlformats.org/drawingml/2006/main" w="0">
            <a:solidFill>
              <a:srgbClr val="3442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0395051"/>
      </p:ext>
    </p:extLst>
  </p:cSld>
</p:sld>
</file>

<file path=ppt/theme/theme1.xml><?xml version="1.0" encoding="utf-8"?>
<a:theme xmlns:a="http://schemas.openxmlformats.org/drawingml/2006/main" name="CYBERSEC Dark">
  <a:themeElements>
    <a:clrScheme name="CYBERSEC Dark">
      <a:accent1>
        <a:srgbClr val="38D7FF"/>
      </a:accent1>
      <a:accent2>
        <a:srgbClr val="FF4D5E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YBERSEC 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2026-04-21T01:23:31.4350000Z</dcterms:created>
  <dcterms:modified xsi:type="dcterms:W3CDTF">2026-04-21T01:23:31.4350000Z</dcterms:modified>
</coreProperties>
</file>